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3"/>
  </p:notesMasterIdLst>
  <p:handoutMasterIdLst>
    <p:handoutMasterId r:id="rId14"/>
  </p:handoutMasterIdLst>
  <p:sldIdLst>
    <p:sldId id="338" r:id="rId5"/>
    <p:sldId id="327" r:id="rId6"/>
    <p:sldId id="315" r:id="rId7"/>
    <p:sldId id="329" r:id="rId8"/>
    <p:sldId id="302" r:id="rId9"/>
    <p:sldId id="339" r:id="rId10"/>
    <p:sldId id="340" r:id="rId11"/>
    <p:sldId id="304"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DCA93E8-64BD-452D-B044-3BE34B464C22}" v="270" dt="2026-09-18T08:55:33.449"/>
    <p1510:client id="{A1F21837-FA2C-43BF-BCFA-DB8421DD42C8}" v="66" dt="2026-09-17T12:57:05.929"/>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69" d="100"/>
          <a:sy n="69" d="100"/>
        </p:scale>
        <p:origin x="484" y="44"/>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9/18/2026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9/18/2026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9/18/2026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9/18/2026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9/18/2026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9.xml"/><Relationship Id="rId4" Type="http://schemas.openxmlformats.org/officeDocument/2006/relationships/hyperlink" Target="https://github.com/Annamdevula1/HealthCare-Analytics-For-Doctor-Visits.git" TargetMode="External"/></Relationships>
</file>

<file path=ppt/slides/_rels/slide8.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312871" y="4141999"/>
            <a:ext cx="3400089" cy="861497"/>
          </a:xfrm>
        </p:spPr>
        <p:txBody>
          <a:bodyPr vert="horz" lIns="91440" tIns="45720" rIns="91440" bIns="45720" rtlCol="0" anchor="t">
            <a:normAutofit/>
          </a:bodyPr>
          <a:lstStyle/>
          <a:p>
            <a:r>
              <a:rPr lang="en-US" b="0" dirty="0">
                <a:solidFill>
                  <a:schemeClr val="tx1"/>
                </a:solidFill>
              </a:rPr>
              <a:t>Durga Prasad Annamdevula</a:t>
            </a: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375501" y="2050553"/>
            <a:ext cx="4936090" cy="1171420"/>
          </a:xfrm>
        </p:spPr>
        <p:txBody>
          <a:bodyPr>
            <a:normAutofit/>
          </a:bodyPr>
          <a:lstStyle/>
          <a:p>
            <a:r>
              <a:rPr lang="en-GB" sz="3200" dirty="0"/>
              <a:t>Healthcare Analytics For Doctor </a:t>
            </a:r>
            <a:r>
              <a:rPr lang="en-GB" sz="3200" dirty="0" err="1"/>
              <a:t>Visits_TIRTC</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r>
              <a:rPr lang="en-IN" sz="2800" dirty="0">
                <a:ea typeface="+mn-lt"/>
                <a:cs typeface="+mn-lt"/>
              </a:rPr>
              <a:t>Healthcare organizations generate large amounts of information about doctor visits, patient appointments, diagnoses, treatments, and follow-up visits. Without proper analysis, it can be difficult to identify visit patterns, understand patient demand, monitor doctor workload, and improve healthcare services.</a:t>
            </a:r>
            <a:endParaRPr lang="en-IN" sz="2800" dirty="0"/>
          </a:p>
          <a:p>
            <a:pPr>
              <a:lnSpc>
                <a:spcPct val="150000"/>
              </a:lnSpc>
            </a:pPr>
            <a:r>
              <a:rPr lang="en-IN" sz="2800" dirty="0">
                <a:ea typeface="+mn-lt"/>
                <a:cs typeface="+mn-lt"/>
              </a:rPr>
              <a:t>This project aims to </a:t>
            </a:r>
            <a:r>
              <a:rPr lang="en-IN" sz="2800" dirty="0" err="1">
                <a:ea typeface="+mn-lt"/>
                <a:cs typeface="+mn-lt"/>
              </a:rPr>
              <a:t>analyze</a:t>
            </a:r>
            <a:r>
              <a:rPr lang="en-IN" sz="2800" dirty="0">
                <a:ea typeface="+mn-lt"/>
                <a:cs typeface="+mn-lt"/>
              </a:rPr>
              <a:t> doctor visit data to identify meaningful patterns and trends that can support better healthcare planning and decision-making.</a:t>
            </a:r>
            <a:endParaRPr lang="en-IN"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a:t>Project Description</a:t>
            </a:r>
            <a:br>
              <a:rPr lang="en-GB" dirty="0"/>
            </a:br>
            <a:endParaRPr lang="en-GB"/>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4" name="TextBox 3">
            <a:extLst>
              <a:ext uri="{FF2B5EF4-FFF2-40B4-BE49-F238E27FC236}">
                <a16:creationId xmlns:a16="http://schemas.microsoft.com/office/drawing/2014/main" id="{705EA99C-D1EC-F715-3095-CA942DD02106}"/>
              </a:ext>
            </a:extLst>
          </p:cNvPr>
          <p:cNvSpPr txBox="1"/>
          <p:nvPr/>
        </p:nvSpPr>
        <p:spPr>
          <a:xfrm>
            <a:off x="955375" y="2069819"/>
            <a:ext cx="8766130" cy="31700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Wingdings"/>
              <a:buChar char="q"/>
            </a:pPr>
            <a:r>
              <a:rPr lang="en-US" sz="2000" dirty="0">
                <a:ea typeface="+mn-lt"/>
                <a:cs typeface="+mn-lt"/>
              </a:rPr>
              <a:t>Healthcare Analytics – Doctor Visits is a data analytics project designed to analyze doctor visit and appointment data. The project examines factors such as patient visits, doctor-wise workload, appointment trends, diagnoses, and other relevant healthcare attributes.</a:t>
            </a:r>
            <a:endParaRPr lang="en-US" sz="2000"/>
          </a:p>
          <a:p>
            <a:endParaRPr lang="en-US" sz="2000" dirty="0">
              <a:ea typeface="+mn-lt"/>
              <a:cs typeface="+mn-lt"/>
            </a:endParaRPr>
          </a:p>
          <a:p>
            <a:pPr marL="342900" indent="-342900">
              <a:buFont typeface="Wingdings"/>
              <a:buChar char="q"/>
            </a:pPr>
            <a:r>
              <a:rPr lang="en-US" sz="2000" dirty="0">
                <a:ea typeface="+mn-lt"/>
                <a:cs typeface="+mn-lt"/>
              </a:rPr>
              <a:t>Using data preprocessing, exploratory data analysis, statistical analysis, and visualizations, the project identifies important patterns in doctor visits. The insights can help healthcare organizations understand patient demand, identify busy periods, monitor workload, and support effective resource and appointment planning.</a:t>
            </a:r>
            <a:endParaRPr lang="en-US" sz="200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vert="horz" lIns="91440" tIns="45720" rIns="91440" bIns="45720" rtlCol="0" anchor="t">
            <a:normAutofit fontScale="55000" lnSpcReduction="20000"/>
          </a:bodyPr>
          <a:lstStyle/>
          <a:p>
            <a:pPr algn="just"/>
            <a:r>
              <a:rPr lang="en-IN" sz="3600" dirty="0">
                <a:solidFill>
                  <a:srgbClr val="7030A0"/>
                </a:solidFill>
                <a:latin typeface="Arial"/>
                <a:ea typeface="+mn-lt"/>
                <a:cs typeface="Arial"/>
              </a:rPr>
              <a:t>Doctors </a:t>
            </a:r>
            <a:r>
              <a:rPr lang="en-IN" sz="3600" dirty="0">
                <a:ea typeface="+mn-lt"/>
                <a:cs typeface="+mn-lt"/>
              </a:rPr>
              <a:t>– to understand patient visit patterns and workload.</a:t>
            </a:r>
            <a:endParaRPr lang="en-IN" sz="3600" dirty="0"/>
          </a:p>
          <a:p>
            <a:pPr algn="just"/>
            <a:r>
              <a:rPr lang="en-IN" sz="3600" dirty="0">
                <a:solidFill>
                  <a:srgbClr val="7030A0"/>
                </a:solidFill>
                <a:ea typeface="+mn-lt"/>
                <a:cs typeface="+mn-lt"/>
              </a:rPr>
              <a:t>Hospital Administrators </a:t>
            </a:r>
            <a:r>
              <a:rPr lang="en-IN" sz="3600" dirty="0">
                <a:ea typeface="+mn-lt"/>
                <a:cs typeface="+mn-lt"/>
              </a:rPr>
              <a:t>– to monitor hospital and doctor performance.</a:t>
            </a:r>
            <a:endParaRPr lang="en-IN" dirty="0"/>
          </a:p>
          <a:p>
            <a:pPr algn="just"/>
            <a:r>
              <a:rPr lang="en-IN" sz="3600" dirty="0">
                <a:solidFill>
                  <a:srgbClr val="7030A0"/>
                </a:solidFill>
                <a:ea typeface="+mn-lt"/>
                <a:cs typeface="+mn-lt"/>
              </a:rPr>
              <a:t>Healthcare Managers </a:t>
            </a:r>
            <a:r>
              <a:rPr lang="en-IN" sz="3600" dirty="0">
                <a:ea typeface="+mn-lt"/>
                <a:cs typeface="+mn-lt"/>
              </a:rPr>
              <a:t>– to plan resources and improve services.</a:t>
            </a:r>
            <a:endParaRPr lang="en-IN" dirty="0"/>
          </a:p>
          <a:p>
            <a:pPr algn="just"/>
            <a:r>
              <a:rPr lang="en-IN" sz="3600" dirty="0">
                <a:solidFill>
                  <a:srgbClr val="7030A0"/>
                </a:solidFill>
                <a:ea typeface="+mn-lt"/>
                <a:cs typeface="+mn-lt"/>
              </a:rPr>
              <a:t>Hospital Staff</a:t>
            </a:r>
            <a:r>
              <a:rPr lang="en-IN" sz="3600" dirty="0">
                <a:ea typeface="+mn-lt"/>
                <a:cs typeface="+mn-lt"/>
              </a:rPr>
              <a:t> – to manage appointments and patient flow.</a:t>
            </a:r>
            <a:endParaRPr lang="en-IN" dirty="0"/>
          </a:p>
          <a:p>
            <a:pPr algn="just"/>
            <a:r>
              <a:rPr lang="en-IN" sz="3600" dirty="0">
                <a:solidFill>
                  <a:srgbClr val="7030A0"/>
                </a:solidFill>
                <a:ea typeface="+mn-lt"/>
                <a:cs typeface="+mn-lt"/>
              </a:rPr>
              <a:t>Healthcare Analysts</a:t>
            </a:r>
            <a:r>
              <a:rPr lang="en-IN" sz="3600" dirty="0">
                <a:ea typeface="+mn-lt"/>
                <a:cs typeface="+mn-lt"/>
              </a:rPr>
              <a:t> – to </a:t>
            </a:r>
            <a:r>
              <a:rPr lang="en-IN" sz="3600" dirty="0" err="1">
                <a:ea typeface="+mn-lt"/>
                <a:cs typeface="+mn-lt"/>
              </a:rPr>
              <a:t>analyze</a:t>
            </a:r>
            <a:r>
              <a:rPr lang="en-IN" sz="3600" dirty="0">
                <a:ea typeface="+mn-lt"/>
                <a:cs typeface="+mn-lt"/>
              </a:rPr>
              <a:t> trends and generate insights.</a:t>
            </a:r>
            <a:endParaRPr lang="en-IN" dirty="0"/>
          </a:p>
          <a:p>
            <a:pPr algn="just">
              <a:lnSpc>
                <a:spcPct val="150000"/>
              </a:lnSpc>
            </a:pPr>
            <a:r>
              <a:rPr lang="en-IN" sz="3600" dirty="0">
                <a:solidFill>
                  <a:srgbClr val="7030A0"/>
                </a:solidFill>
                <a:ea typeface="+mn-lt"/>
                <a:cs typeface="+mn-lt"/>
              </a:rPr>
              <a:t>Patients</a:t>
            </a:r>
            <a:r>
              <a:rPr lang="en-IN" sz="3600" dirty="0">
                <a:ea typeface="+mn-lt"/>
                <a:cs typeface="+mn-lt"/>
              </a:rPr>
              <a:t> – indirectly benefit through improved appointment management and healthcare services.</a:t>
            </a:r>
            <a:endParaRPr lang="en-IN"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vert="horz" lIns="91440" tIns="45720" rIns="91440" bIns="45720" rtlCol="0" anchor="t">
            <a:normAutofit/>
          </a:bodyPr>
          <a:lstStyle/>
          <a:p>
            <a:pPr lvl="1">
              <a:lnSpc>
                <a:spcPct val="150000"/>
              </a:lnSpc>
            </a:pPr>
            <a:r>
              <a:rPr lang="en-IN" dirty="0"/>
              <a:t>Python</a:t>
            </a:r>
          </a:p>
          <a:p>
            <a:pPr lvl="1">
              <a:lnSpc>
                <a:spcPct val="150000"/>
              </a:lnSpc>
            </a:pPr>
            <a:r>
              <a:rPr lang="en-IN" dirty="0"/>
              <a:t>Pandas</a:t>
            </a:r>
          </a:p>
          <a:p>
            <a:pPr lvl="1">
              <a:lnSpc>
                <a:spcPct val="150000"/>
              </a:lnSpc>
            </a:pPr>
            <a:r>
              <a:rPr lang="en-IN" dirty="0" err="1"/>
              <a:t>Numpy</a:t>
            </a:r>
          </a:p>
          <a:p>
            <a:pPr lvl="1">
              <a:lnSpc>
                <a:spcPct val="150000"/>
              </a:lnSpc>
            </a:pPr>
            <a:r>
              <a:rPr lang="en-IN" dirty="0"/>
              <a:t>Matplotlib</a:t>
            </a:r>
          </a:p>
          <a:p>
            <a:pPr lvl="1">
              <a:lnSpc>
                <a:spcPct val="150000"/>
              </a:lnSpc>
            </a:pPr>
            <a:r>
              <a:rPr lang="en-IN" dirty="0"/>
              <a:t>Seaborn</a:t>
            </a:r>
          </a:p>
          <a:p>
            <a:pPr lvl="1">
              <a:lnSpc>
                <a:spcPct val="150000"/>
              </a:lnSpc>
            </a:pPr>
            <a:r>
              <a:rPr lang="en-IN" dirty="0"/>
              <a:t>Google </a:t>
            </a:r>
            <a:r>
              <a:rPr lang="en-IN" dirty="0" err="1"/>
              <a:t>colab</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animEffect transition="in" filter="fade">
                                      <p:cBhvr>
                                        <p:cTn id="19" dur="1000"/>
                                        <p:tgtEl>
                                          <p:spTgt spid="7">
                                            <p:txEl>
                                              <p:pRg st="1" end="1"/>
                                            </p:txEl>
                                          </p:spTgt>
                                        </p:tgtEl>
                                      </p:cBhvr>
                                    </p:animEffect>
                                    <p:anim calcmode="lin" valueType="num">
                                      <p:cBhvr>
                                        <p:cTn id="20"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fade">
                                      <p:cBhvr>
                                        <p:cTn id="24" dur="1000"/>
                                        <p:tgtEl>
                                          <p:spTgt spid="7">
                                            <p:txEl>
                                              <p:pRg st="2" end="2"/>
                                            </p:txEl>
                                          </p:spTgt>
                                        </p:tgtEl>
                                      </p:cBhvr>
                                    </p:animEffect>
                                    <p:anim calcmode="lin" valueType="num">
                                      <p:cBhvr>
                                        <p:cTn id="2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animEffect transition="in" filter="fade">
                                      <p:cBhvr>
                                        <p:cTn id="29" dur="1000"/>
                                        <p:tgtEl>
                                          <p:spTgt spid="7">
                                            <p:txEl>
                                              <p:pRg st="3" end="3"/>
                                            </p:txEl>
                                          </p:spTgt>
                                        </p:tgtEl>
                                      </p:cBhvr>
                                    </p:animEffect>
                                    <p:anim calcmode="lin" valueType="num">
                                      <p:cBhvr>
                                        <p:cTn id="30"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3" end="3"/>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7">
                                            <p:txEl>
                                              <p:pRg st="4" end="4"/>
                                            </p:txEl>
                                          </p:spTgt>
                                        </p:tgtEl>
                                        <p:attrNameLst>
                                          <p:attrName>style.visibility</p:attrName>
                                        </p:attrNameLst>
                                      </p:cBhvr>
                                      <p:to>
                                        <p:strVal val="visible"/>
                                      </p:to>
                                    </p:set>
                                    <p:animEffect transition="in" filter="fade">
                                      <p:cBhvr>
                                        <p:cTn id="34" dur="1000"/>
                                        <p:tgtEl>
                                          <p:spTgt spid="7">
                                            <p:txEl>
                                              <p:pRg st="4" end="4"/>
                                            </p:txEl>
                                          </p:spTgt>
                                        </p:tgtEl>
                                      </p:cBhvr>
                                    </p:animEffect>
                                    <p:anim calcmode="lin" valueType="num">
                                      <p:cBhvr>
                                        <p:cTn id="35"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7">
                                            <p:txEl>
                                              <p:pRg st="4" end="4"/>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7">
                                            <p:txEl>
                                              <p:pRg st="5" end="5"/>
                                            </p:txEl>
                                          </p:spTgt>
                                        </p:tgtEl>
                                        <p:attrNameLst>
                                          <p:attrName>style.visibility</p:attrName>
                                        </p:attrNameLst>
                                      </p:cBhvr>
                                      <p:to>
                                        <p:strVal val="visible"/>
                                      </p:to>
                                    </p:set>
                                    <p:animEffect transition="in" filter="fade">
                                      <p:cBhvr>
                                        <p:cTn id="39" dur="1000"/>
                                        <p:tgtEl>
                                          <p:spTgt spid="7">
                                            <p:txEl>
                                              <p:pRg st="5" end="5"/>
                                            </p:txEl>
                                          </p:spTgt>
                                        </p:tgtEl>
                                      </p:cBhvr>
                                    </p:animEffect>
                                    <p:anim calcmode="lin" valueType="num">
                                      <p:cBhvr>
                                        <p:cTn id="4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4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ction="ppaction://hlinkfile">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pic>
        <p:nvPicPr>
          <p:cNvPr id="3" name="Picture 2">
            <a:extLst>
              <a:ext uri="{FF2B5EF4-FFF2-40B4-BE49-F238E27FC236}">
                <a16:creationId xmlns:a16="http://schemas.microsoft.com/office/drawing/2014/main" id="{60E20BF7-8E93-DDCF-824E-F3BC3F37B5A7}"/>
              </a:ext>
            </a:extLst>
          </p:cNvPr>
          <p:cNvPicPr>
            <a:picLocks noChangeAspect="1"/>
          </p:cNvPicPr>
          <p:nvPr/>
        </p:nvPicPr>
        <p:blipFill>
          <a:blip r:embed="rId4"/>
          <a:stretch>
            <a:fillRect/>
          </a:stretch>
        </p:blipFill>
        <p:spPr>
          <a:xfrm>
            <a:off x="561584" y="1272762"/>
            <a:ext cx="4805818" cy="5262367"/>
          </a:xfrm>
          <a:prstGeom prst="rect">
            <a:avLst/>
          </a:prstGeom>
        </p:spPr>
      </p:pic>
      <p:pic>
        <p:nvPicPr>
          <p:cNvPr id="6" name="Picture 5">
            <a:extLst>
              <a:ext uri="{FF2B5EF4-FFF2-40B4-BE49-F238E27FC236}">
                <a16:creationId xmlns:a16="http://schemas.microsoft.com/office/drawing/2014/main" id="{2C4B9F68-807D-E369-D2F5-A81A57AF6CFB}"/>
              </a:ext>
            </a:extLst>
          </p:cNvPr>
          <p:cNvPicPr>
            <a:picLocks noChangeAspect="1"/>
          </p:cNvPicPr>
          <p:nvPr/>
        </p:nvPicPr>
        <p:blipFill>
          <a:blip r:embed="rId5"/>
          <a:stretch>
            <a:fillRect/>
          </a:stretch>
        </p:blipFill>
        <p:spPr>
          <a:xfrm>
            <a:off x="5680553" y="1606528"/>
            <a:ext cx="4797468" cy="4323437"/>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1B32BB9-B2BB-D545-A901-0A3C99FF136A}"/>
              </a:ext>
            </a:extLst>
          </p:cNvPr>
          <p:cNvSpPr>
            <a:spLocks noGrp="1"/>
          </p:cNvSpPr>
          <p:nvPr>
            <p:ph type="body" sz="quarter" idx="12"/>
          </p:nvPr>
        </p:nvSpPr>
        <p:spPr>
          <a:xfrm>
            <a:off x="660400" y="781659"/>
            <a:ext cx="5238843" cy="4541969"/>
          </a:xfrm>
        </p:spPr>
        <p:txBody>
          <a:bodyPr/>
          <a:lstStyle/>
          <a:p>
            <a:endParaRPr lang="en-US"/>
          </a:p>
        </p:txBody>
      </p:sp>
      <p:pic>
        <p:nvPicPr>
          <p:cNvPr id="14" name="Picture 13">
            <a:extLst>
              <a:ext uri="{FF2B5EF4-FFF2-40B4-BE49-F238E27FC236}">
                <a16:creationId xmlns:a16="http://schemas.microsoft.com/office/drawing/2014/main" id="{6631A581-41A2-9B2D-9179-2B34A34E842A}"/>
              </a:ext>
            </a:extLst>
          </p:cNvPr>
          <p:cNvPicPr>
            <a:picLocks noChangeAspect="1"/>
          </p:cNvPicPr>
          <p:nvPr/>
        </p:nvPicPr>
        <p:blipFill>
          <a:blip r:embed="rId2"/>
          <a:stretch>
            <a:fillRect/>
          </a:stretch>
        </p:blipFill>
        <p:spPr>
          <a:xfrm>
            <a:off x="660588" y="786445"/>
            <a:ext cx="5234267" cy="4535543"/>
          </a:xfrm>
          <a:prstGeom prst="rect">
            <a:avLst/>
          </a:prstGeom>
        </p:spPr>
      </p:pic>
      <p:pic>
        <p:nvPicPr>
          <p:cNvPr id="19" name="Picture 18">
            <a:extLst>
              <a:ext uri="{FF2B5EF4-FFF2-40B4-BE49-F238E27FC236}">
                <a16:creationId xmlns:a16="http://schemas.microsoft.com/office/drawing/2014/main" id="{AE0E279E-F8EB-55E6-ABF8-0BD9B4513CC0}"/>
              </a:ext>
            </a:extLst>
          </p:cNvPr>
          <p:cNvPicPr>
            <a:picLocks noChangeAspect="1"/>
          </p:cNvPicPr>
          <p:nvPr/>
        </p:nvPicPr>
        <p:blipFill>
          <a:blip r:embed="rId3"/>
          <a:stretch>
            <a:fillRect/>
          </a:stretch>
        </p:blipFill>
        <p:spPr>
          <a:xfrm>
            <a:off x="6101043" y="234476"/>
            <a:ext cx="5447178" cy="5433172"/>
          </a:xfrm>
          <a:prstGeom prst="rect">
            <a:avLst/>
          </a:prstGeom>
        </p:spPr>
      </p:pic>
      <p:sp>
        <p:nvSpPr>
          <p:cNvPr id="3" name="TextBox 2">
            <a:extLst>
              <a:ext uri="{FF2B5EF4-FFF2-40B4-BE49-F238E27FC236}">
                <a16:creationId xmlns:a16="http://schemas.microsoft.com/office/drawing/2014/main" id="{6480264F-098D-8CCF-98EB-635452FFE0CD}"/>
              </a:ext>
            </a:extLst>
          </p:cNvPr>
          <p:cNvSpPr txBox="1"/>
          <p:nvPr/>
        </p:nvSpPr>
        <p:spPr>
          <a:xfrm>
            <a:off x="784051" y="5810379"/>
            <a:ext cx="10759856"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solidFill>
                  <a:srgbClr val="00B0F0"/>
                </a:solidFill>
              </a:rPr>
              <a:t>Demo Link</a:t>
            </a:r>
            <a:r>
              <a:rPr lang="en-US" dirty="0">
                <a:solidFill>
                  <a:srgbClr val="00B0F0"/>
                </a:solidFill>
              </a:rPr>
              <a:t>:</a:t>
            </a:r>
            <a:r>
              <a:rPr lang="en-US" dirty="0">
                <a:solidFill>
                  <a:srgbClr val="00B0F0"/>
                </a:solidFill>
                <a:ea typeface="+mn-lt"/>
                <a:cs typeface="+mn-lt"/>
              </a:rPr>
              <a:t> </a:t>
            </a:r>
            <a:r>
              <a:rPr lang="en-US" dirty="0">
                <a:solidFill>
                  <a:schemeClr val="accent2">
                    <a:lumMod val="49000"/>
                  </a:schemeClr>
                </a:solidFill>
                <a:ea typeface="+mn-lt"/>
                <a:cs typeface="+mn-lt"/>
                <a:hlinkClick r:id="rId4">
                  <a:extLst>
                    <a:ext uri="{A12FA001-AC4F-418D-AE19-62706E023703}">
                      <ahyp:hlinkClr xmlns:ahyp="http://schemas.microsoft.com/office/drawing/2018/hyperlinkcolor" val="tx"/>
                    </a:ext>
                  </a:extLst>
                </a:hlinkClick>
              </a:rPr>
              <a:t>https://github.com/Annamdevula1/HealthCare-Analytics-For-Doctor-Visits.git</a:t>
            </a:r>
          </a:p>
          <a:p>
            <a:endParaRPr lang="en-US" dirty="0">
              <a:solidFill>
                <a:schemeClr val="accent2">
                  <a:lumMod val="49000"/>
                </a:schemeClr>
              </a:solidFill>
            </a:endParaRPr>
          </a:p>
        </p:txBody>
      </p:sp>
    </p:spTree>
    <p:extLst>
      <p:ext uri="{BB962C8B-B14F-4D97-AF65-F5344CB8AC3E}">
        <p14:creationId xmlns:p14="http://schemas.microsoft.com/office/powerpoint/2010/main" val="31247931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Facet</Template>
  <TotalTime>549</TotalTime>
  <Words>36</Words>
  <Application>Microsoft Office PowerPoint</Application>
  <PresentationFormat>Widescreen</PresentationFormat>
  <Paragraphs>13</Paragraphs>
  <Slides>8</Slides>
  <Notes>1</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Facet</vt:lpstr>
      <vt:lpstr>Healthcare Analytics For Doctor Visits_TIRTC</vt:lpstr>
      <vt:lpstr>PROBLEM  STATEMENT</vt:lpstr>
      <vt:lpstr>Project Description </vt:lpstr>
      <vt:lpstr>WHO ARE THE END USERS?</vt:lpstr>
      <vt:lpstr>Technology Used</vt:lpstr>
      <vt:lpstr>RESULTS </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hp</cp:lastModifiedBy>
  <cp:revision>222</cp:revision>
  <dcterms:created xsi:type="dcterms:W3CDTF">2021-07-11T13:13:15Z</dcterms:created>
  <dcterms:modified xsi:type="dcterms:W3CDTF">2026-09-18T09:03:45Z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